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jz2qH+Xd372yjJLbInyhEczItY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8CBAD-5C5A-4D19-A59E-3B3466CC5238}">
  <a:tblStyle styleId="{2178CBAD-5C5A-4D19-A59E-3B3466CC52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7"/>
  </p:normalViewPr>
  <p:slideViewPr>
    <p:cSldViewPr snapToGrid="0">
      <p:cViewPr varScale="1">
        <p:scale>
          <a:sx n="147" d="100"/>
          <a:sy n="147" d="100"/>
        </p:scale>
        <p:origin x="6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C4895A"/>
                </a:solidFill>
                <a:latin typeface="Cambria"/>
                <a:ea typeface="Cambria"/>
                <a:cs typeface="Cambria"/>
                <a:sym typeface="Cambria"/>
              </a:rPr>
              <a:t>—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57200" y="640080"/>
            <a:ext cx="5943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6400"/>
              <a:buFont typeface="Cambria"/>
              <a:buNone/>
            </a:pPr>
            <a:r>
              <a:rPr lang="en-US" sz="6400" b="1" i="0" u="none" strike="noStrike" cap="none">
                <a:solidFill>
                  <a:srgbClr val="161412"/>
                </a:solidFill>
                <a:latin typeface="Cambria"/>
                <a:ea typeface="Cambria"/>
                <a:cs typeface="Cambria"/>
                <a:sym typeface="Cambria"/>
              </a:rPr>
              <a:t>Campaign</a:t>
            </a:r>
            <a:endParaRPr sz="6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6400"/>
              <a:buFont typeface="Cambria"/>
              <a:buNone/>
            </a:pPr>
            <a:r>
              <a:rPr lang="en-US" sz="6400" b="1" i="0" u="none" strike="noStrike" cap="none">
                <a:solidFill>
                  <a:srgbClr val="161412"/>
                </a:solidFill>
                <a:latin typeface="Cambria"/>
                <a:ea typeface="Cambria"/>
                <a:cs typeface="Cambria"/>
                <a:sym typeface="Cambria"/>
              </a:rPr>
              <a:t>Planning</a:t>
            </a:r>
            <a:endParaRPr sz="6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6400"/>
              <a:buFont typeface="Cambria"/>
              <a:buNone/>
            </a:pPr>
            <a:r>
              <a:rPr lang="en-US" sz="6400" b="1" i="0" u="none" strike="noStrike" cap="none">
                <a:solidFill>
                  <a:srgbClr val="161412"/>
                </a:solidFill>
                <a:latin typeface="Cambria"/>
                <a:ea typeface="Cambria"/>
                <a:cs typeface="Cambria"/>
                <a:sym typeface="Cambria"/>
              </a:rPr>
              <a:t>Agent.</a:t>
            </a:r>
            <a:endParaRPr sz="6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" name="Google Shape;14;p1"/>
          <p:cNvCxnSpPr/>
          <p:nvPr/>
        </p:nvCxnSpPr>
        <p:spPr>
          <a:xfrm>
            <a:off x="6675120" y="457200"/>
            <a:ext cx="0" cy="4389120"/>
          </a:xfrm>
          <a:prstGeom prst="straightConnector1">
            <a:avLst/>
          </a:prstGeom>
          <a:noFill/>
          <a:ln w="10150" cap="flat" cmpd="sng">
            <a:solidFill>
              <a:srgbClr val="D4CCC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1"/>
          <p:cNvSpPr/>
          <p:nvPr/>
        </p:nvSpPr>
        <p:spPr>
          <a:xfrm>
            <a:off x="6858000" y="548640"/>
            <a:ext cx="20116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An AI agent that automates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campaign brief creation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for marketing teams.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6858000" y="22860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Big Data &amp; AI in Marketing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858000" y="260604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Group Assignment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Option 2: Spec-Driven Development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Deadline: June 12, 2026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457200" y="4800600"/>
            <a:ext cx="8412480" cy="0"/>
          </a:xfrm>
          <a:prstGeom prst="straightConnector1">
            <a:avLst/>
          </a:prstGeom>
          <a:noFill/>
          <a:ln w="12700" cap="flat" cmpd="sng">
            <a:solidFill>
              <a:srgbClr val="16141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1"/>
          <p:cNvSpPr/>
          <p:nvPr/>
        </p:nvSpPr>
        <p:spPr>
          <a:xfrm>
            <a:off x="457200" y="484632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751125" y="4830076"/>
            <a:ext cx="5924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Big Data &amp; AI in Marketing  ·  June 2026  ·  Isha Shah  ·  Marti Sola Puig  ·  Nuria Etemadi  ·  Rachel Lee  ·  Shadi Hamarneh  ·  Tina Jannasch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61412"/>
          </a:solidFill>
          <a:ln w="12700" cap="flat" cmpd="sng">
            <a:solidFill>
              <a:srgbClr val="1614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548640" y="13716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lang="en-US" sz="38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Problem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8321040" y="13716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40" y="86868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0D0"/>
              </a:buClr>
              <a:buSzPts val="1300"/>
              <a:buFont typeface="Calibri"/>
              <a:buNone/>
            </a:pPr>
            <a:r>
              <a:rPr lang="en-US" sz="1300" i="1" dirty="0">
                <a:solidFill>
                  <a:srgbClr val="E8E0D0"/>
                </a:solidFill>
                <a:latin typeface="Calibri"/>
                <a:ea typeface="Calibri"/>
                <a:cs typeface="Calibri"/>
                <a:sym typeface="Calibri"/>
              </a:rPr>
              <a:t>Every campaign launch costs someone 2 - 3 hours of manual planning.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30;p2"/>
          <p:cNvCxnSpPr/>
          <p:nvPr/>
        </p:nvCxnSpPr>
        <p:spPr>
          <a:xfrm>
            <a:off x="548640" y="1691640"/>
            <a:ext cx="2377440" cy="0"/>
          </a:xfrm>
          <a:prstGeom prst="straightConnector1">
            <a:avLst/>
          </a:prstGeom>
          <a:noFill/>
          <a:ln w="19050" cap="flat" cmpd="sng">
            <a:solidFill>
              <a:srgbClr val="C4895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" name="Google Shape;31;p2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2200"/>
              <a:buFont typeface="Cambria"/>
              <a:buNone/>
            </a:pPr>
            <a:r>
              <a:rPr lang="en-US" sz="2200" b="1">
                <a:solidFill>
                  <a:srgbClr val="161412"/>
                </a:solidFill>
                <a:latin typeface="Cambria"/>
                <a:ea typeface="Cambria"/>
                <a:cs typeface="Cambria"/>
                <a:sym typeface="Cambria"/>
              </a:rPr>
              <a:t>2–3 hours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2468880"/>
            <a:ext cx="25603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per campaign. Someone has to figure out channels, split the budget, set KPI targets, and write a brief; every single time.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2"/>
          <p:cNvCxnSpPr/>
          <p:nvPr/>
        </p:nvCxnSpPr>
        <p:spPr>
          <a:xfrm>
            <a:off x="3383280" y="1691640"/>
            <a:ext cx="2377440" cy="0"/>
          </a:xfrm>
          <a:prstGeom prst="straightConnector1">
            <a:avLst/>
          </a:prstGeom>
          <a:noFill/>
          <a:ln w="19050" cap="flat" cmpd="sng">
            <a:solidFill>
              <a:srgbClr val="C4895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" name="Google Shape;34;p2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2200"/>
              <a:buFont typeface="Cambria"/>
              <a:buNone/>
            </a:pPr>
            <a:r>
              <a:rPr lang="en-US" sz="2200" b="1">
                <a:solidFill>
                  <a:srgbClr val="161412"/>
                </a:solidFill>
                <a:latin typeface="Cambria"/>
                <a:ea typeface="Cambria"/>
                <a:cs typeface="Cambria"/>
                <a:sym typeface="Cambria"/>
              </a:rPr>
              <a:t>No consistency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383280" y="2468880"/>
            <a:ext cx="25603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Different planners make different calls with the same data. There is no repeatable logic, so quality varies wildly.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2"/>
          <p:cNvCxnSpPr/>
          <p:nvPr/>
        </p:nvCxnSpPr>
        <p:spPr>
          <a:xfrm>
            <a:off x="6217920" y="1691640"/>
            <a:ext cx="2377440" cy="0"/>
          </a:xfrm>
          <a:prstGeom prst="straightConnector1">
            <a:avLst/>
          </a:prstGeom>
          <a:noFill/>
          <a:ln w="19050" cap="flat" cmpd="sng">
            <a:solidFill>
              <a:srgbClr val="C4895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2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2200"/>
              <a:buFont typeface="Cambria"/>
              <a:buNone/>
            </a:pPr>
            <a:r>
              <a:rPr lang="en-US" sz="2200" b="1">
                <a:solidFill>
                  <a:srgbClr val="161412"/>
                </a:solidFill>
                <a:latin typeface="Cambria"/>
                <a:ea typeface="Cambria"/>
                <a:cs typeface="Cambria"/>
                <a:sym typeface="Cambria"/>
              </a:rPr>
              <a:t>No capacity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217920" y="2468880"/>
            <a:ext cx="25603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Smaller teams have no dedicated media planners. This work falls to whoever has time, which is nobody.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2"/>
          <p:cNvCxnSpPr/>
          <p:nvPr/>
        </p:nvCxnSpPr>
        <p:spPr>
          <a:xfrm>
            <a:off x="548640" y="4663440"/>
            <a:ext cx="8046720" cy="0"/>
          </a:xfrm>
          <a:prstGeom prst="straightConnector1">
            <a:avLst/>
          </a:prstGeom>
          <a:noFill/>
          <a:ln w="9525" cap="flat" cmpd="sng">
            <a:solidFill>
              <a:srgbClr val="D4CCC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2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Our answer: an AI agent that does all of this in under 2 minutes.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/>
          <p:nvPr/>
        </p:nvSpPr>
        <p:spPr>
          <a:xfrm>
            <a:off x="457200" y="274320"/>
            <a:ext cx="32004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4000"/>
              <a:buFont typeface="Cambria"/>
              <a:buNone/>
            </a:pPr>
            <a:r>
              <a:rPr lang="en-US" sz="4000" b="1">
                <a:solidFill>
                  <a:srgbClr val="161412"/>
                </a:solidFill>
                <a:latin typeface="Cambria"/>
                <a:ea typeface="Cambria"/>
                <a:cs typeface="Cambria"/>
                <a:sym typeface="Cambria"/>
              </a:rPr>
              <a:t>How the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4000"/>
              <a:buFont typeface="Cambria"/>
              <a:buNone/>
            </a:pPr>
            <a:r>
              <a:rPr lang="en-US" sz="4000" b="1">
                <a:solidFill>
                  <a:srgbClr val="161412"/>
                </a:solidFill>
                <a:latin typeface="Cambria"/>
                <a:ea typeface="Cambria"/>
                <a:cs typeface="Cambria"/>
                <a:sym typeface="Cambria"/>
              </a:rPr>
              <a:t>Agent Works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57200" y="23774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457200" y="2697480"/>
            <a:ext cx="29260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A 6-step pipeline.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Each step makes one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decision and explains why.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3"/>
          <p:cNvCxnSpPr/>
          <p:nvPr/>
        </p:nvCxnSpPr>
        <p:spPr>
          <a:xfrm>
            <a:off x="3931920" y="365760"/>
            <a:ext cx="4937760" cy="0"/>
          </a:xfrm>
          <a:prstGeom prst="straightConnector1">
            <a:avLst/>
          </a:prstGeom>
          <a:noFill/>
          <a:ln w="9525" cap="flat" cmpd="sng">
            <a:solidFill>
              <a:srgbClr val="D4CCC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3"/>
          <p:cNvSpPr/>
          <p:nvPr/>
        </p:nvSpPr>
        <p:spPr>
          <a:xfrm>
            <a:off x="3931920" y="457200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480560" y="43891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100"/>
              <a:buFont typeface="Courier New"/>
              <a:buNone/>
            </a:pPr>
            <a:r>
              <a:rPr lang="en-US" sz="1100" b="1">
                <a:solidFill>
                  <a:srgbClr val="161412"/>
                </a:solidFill>
                <a:latin typeface="Courier New"/>
                <a:ea typeface="Courier New"/>
                <a:cs typeface="Courier New"/>
                <a:sym typeface="Courier New"/>
              </a:rPr>
              <a:t>analyze_goal()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480560" y="74980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Funnel stage: Awareness, Consideration, or Conversion with reasoning.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3"/>
          <p:cNvCxnSpPr/>
          <p:nvPr/>
        </p:nvCxnSpPr>
        <p:spPr>
          <a:xfrm>
            <a:off x="3931920" y="1143000"/>
            <a:ext cx="4937760" cy="0"/>
          </a:xfrm>
          <a:prstGeom prst="straightConnector1">
            <a:avLst/>
          </a:prstGeom>
          <a:noFill/>
          <a:ln w="9525" cap="flat" cmpd="sng">
            <a:solidFill>
              <a:srgbClr val="D4CCC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p3"/>
          <p:cNvSpPr/>
          <p:nvPr/>
        </p:nvSpPr>
        <p:spPr>
          <a:xfrm>
            <a:off x="3931920" y="1234440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480560" y="121615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100"/>
              <a:buFont typeface="Courier New"/>
              <a:buNone/>
            </a:pPr>
            <a:r>
              <a:rPr lang="en-US" sz="1100" b="1">
                <a:solidFill>
                  <a:srgbClr val="161412"/>
                </a:solidFill>
                <a:latin typeface="Courier New"/>
                <a:ea typeface="Courier New"/>
                <a:cs typeface="Courier New"/>
                <a:sym typeface="Courier New"/>
              </a:rPr>
              <a:t>select_channels()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480560" y="152704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Up to 3 channels matched to audience and funnel stage, with pricing model.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3"/>
          <p:cNvCxnSpPr/>
          <p:nvPr/>
        </p:nvCxnSpPr>
        <p:spPr>
          <a:xfrm>
            <a:off x="3931920" y="1920240"/>
            <a:ext cx="4937760" cy="0"/>
          </a:xfrm>
          <a:prstGeom prst="straightConnector1">
            <a:avLst/>
          </a:prstGeom>
          <a:noFill/>
          <a:ln w="9525" cap="flat" cmpd="sng">
            <a:solidFill>
              <a:srgbClr val="D4CCC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3"/>
          <p:cNvSpPr/>
          <p:nvPr/>
        </p:nvSpPr>
        <p:spPr>
          <a:xfrm>
            <a:off x="3931920" y="2011680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480560" y="199339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100"/>
              <a:buFont typeface="Courier New"/>
              <a:buNone/>
            </a:pPr>
            <a:r>
              <a:rPr lang="en-US" sz="1100" b="1">
                <a:solidFill>
                  <a:srgbClr val="161412"/>
                </a:solidFill>
                <a:latin typeface="Courier New"/>
                <a:ea typeface="Courier New"/>
                <a:cs typeface="Courier New"/>
                <a:sym typeface="Courier New"/>
              </a:rPr>
              <a:t>distribute_budget()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480560" y="230428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Budget split in % and amount per channel. Guaranteed to sum to 100%.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3"/>
          <p:cNvCxnSpPr/>
          <p:nvPr/>
        </p:nvCxnSpPr>
        <p:spPr>
          <a:xfrm>
            <a:off x="3931920" y="2697480"/>
            <a:ext cx="4937760" cy="0"/>
          </a:xfrm>
          <a:prstGeom prst="straightConnector1">
            <a:avLst/>
          </a:prstGeom>
          <a:noFill/>
          <a:ln w="9525" cap="flat" cmpd="sng">
            <a:solidFill>
              <a:srgbClr val="D4CCC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3"/>
          <p:cNvSpPr/>
          <p:nvPr/>
        </p:nvSpPr>
        <p:spPr>
          <a:xfrm>
            <a:off x="3931920" y="2788920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480560" y="277063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100"/>
              <a:buFont typeface="Courier New"/>
              <a:buNone/>
            </a:pPr>
            <a:r>
              <a:rPr lang="en-US" sz="1100" b="1">
                <a:solidFill>
                  <a:srgbClr val="161412"/>
                </a:solidFill>
                <a:latin typeface="Courier New"/>
                <a:ea typeface="Courier New"/>
                <a:cs typeface="Courier New"/>
                <a:sym typeface="Courier New"/>
              </a:rPr>
              <a:t>calculate_kpis()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480560" y="308152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CTR, CPA, ROAS: derived from the actual product price, not benchmarks.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3"/>
          <p:cNvCxnSpPr/>
          <p:nvPr/>
        </p:nvCxnSpPr>
        <p:spPr>
          <a:xfrm>
            <a:off x="3931920" y="3474720"/>
            <a:ext cx="4937760" cy="0"/>
          </a:xfrm>
          <a:prstGeom prst="straightConnector1">
            <a:avLst/>
          </a:prstGeom>
          <a:noFill/>
          <a:ln w="9525" cap="flat" cmpd="sng">
            <a:solidFill>
              <a:srgbClr val="D4CCC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" name="Google Shape;66;p3"/>
          <p:cNvSpPr/>
          <p:nvPr/>
        </p:nvSpPr>
        <p:spPr>
          <a:xfrm>
            <a:off x="3931920" y="3566160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480560" y="354787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100"/>
              <a:buFont typeface="Courier New"/>
              <a:buNone/>
            </a:pPr>
            <a:r>
              <a:rPr lang="en-US" sz="1100" b="1">
                <a:solidFill>
                  <a:srgbClr val="161412"/>
                </a:solidFill>
                <a:latin typeface="Courier New"/>
                <a:ea typeface="Courier New"/>
                <a:cs typeface="Courier New"/>
                <a:sym typeface="Courier New"/>
              </a:rPr>
              <a:t>generate_keywords()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480560" y="385876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Exactly 5 keywords matched to funnel stage and market language.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3"/>
          <p:cNvCxnSpPr/>
          <p:nvPr/>
        </p:nvCxnSpPr>
        <p:spPr>
          <a:xfrm>
            <a:off x="3931920" y="4251960"/>
            <a:ext cx="4937760" cy="0"/>
          </a:xfrm>
          <a:prstGeom prst="straightConnector1">
            <a:avLst/>
          </a:prstGeom>
          <a:noFill/>
          <a:ln w="9525" cap="flat" cmpd="sng">
            <a:solidFill>
              <a:srgbClr val="D4CCC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" name="Google Shape;70;p3"/>
          <p:cNvSpPr/>
          <p:nvPr/>
        </p:nvSpPr>
        <p:spPr>
          <a:xfrm>
            <a:off x="3931920" y="4343400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480560" y="432511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100"/>
              <a:buFont typeface="Courier New"/>
              <a:buNone/>
            </a:pPr>
            <a:r>
              <a:rPr lang="en-US" sz="1100" b="1">
                <a:solidFill>
                  <a:srgbClr val="161412"/>
                </a:solidFill>
                <a:latin typeface="Courier New"/>
                <a:ea typeface="Courier New"/>
                <a:cs typeface="Courier New"/>
                <a:sym typeface="Courier New"/>
              </a:rPr>
              <a:t>write_brief()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480560" y="463600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3 to 5 sentences. Ready to hand to a media buyer.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412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EFE6"/>
              </a:buClr>
              <a:buSzPts val="4000"/>
              <a:buFont typeface="Cambria"/>
              <a:buNone/>
            </a:pPr>
            <a:r>
              <a:rPr lang="en-US" sz="4000" b="1">
                <a:solidFill>
                  <a:srgbClr val="F4EFE6"/>
                </a:solidFill>
                <a:latin typeface="Cambria"/>
                <a:ea typeface="Cambria"/>
                <a:cs typeface="Cambria"/>
                <a:sym typeface="Cambria"/>
              </a:rPr>
              <a:t>How We Built It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Spec-Driven Development: spec first, code second.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8321040" y="3200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4"/>
          <p:cNvCxnSpPr/>
          <p:nvPr/>
        </p:nvCxnSpPr>
        <p:spPr>
          <a:xfrm>
            <a:off x="548640" y="1508760"/>
            <a:ext cx="8321040" cy="0"/>
          </a:xfrm>
          <a:prstGeom prst="straightConnector1">
            <a:avLst/>
          </a:prstGeom>
          <a:noFill/>
          <a:ln w="9525" cap="flat" cmpd="sng">
            <a:solidFill>
              <a:srgbClr val="2E2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2" name="Google Shape;82;p4"/>
          <p:cNvSpPr/>
          <p:nvPr/>
        </p:nvSpPr>
        <p:spPr>
          <a:xfrm>
            <a:off x="548640" y="16002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1200"/>
              <a:buFont typeface="Cambria"/>
              <a:buNone/>
            </a:pPr>
            <a:r>
              <a:rPr lang="en-US" sz="1200" b="1">
                <a:solidFill>
                  <a:srgbClr val="C4895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051560" y="16002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EF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4EFE6"/>
                </a:solidFill>
                <a:latin typeface="Calibri"/>
                <a:ea typeface="Calibri"/>
                <a:cs typeface="Calibri"/>
                <a:sym typeface="Calibri"/>
              </a:rPr>
              <a:t>Write the spec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3749040" y="160020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CLAUDE.md defines the agent's purpose, 6 steps, constraints, and edge cases. Written before any code.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4"/>
          <p:cNvCxnSpPr/>
          <p:nvPr/>
        </p:nvCxnSpPr>
        <p:spPr>
          <a:xfrm>
            <a:off x="548640" y="2194560"/>
            <a:ext cx="8321040" cy="0"/>
          </a:xfrm>
          <a:prstGeom prst="straightConnector1">
            <a:avLst/>
          </a:prstGeom>
          <a:noFill/>
          <a:ln w="9525" cap="flat" cmpd="sng">
            <a:solidFill>
              <a:srgbClr val="2E2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4"/>
          <p:cNvSpPr/>
          <p:nvPr/>
        </p:nvSpPr>
        <p:spPr>
          <a:xfrm>
            <a:off x="548640" y="22860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1200"/>
              <a:buFont typeface="Cambria"/>
              <a:buNone/>
            </a:pPr>
            <a:r>
              <a:rPr lang="en-US" sz="1200" b="1">
                <a:solidFill>
                  <a:srgbClr val="C4895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051560" y="22860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EF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4EFE6"/>
                </a:solidFill>
                <a:latin typeface="Calibri"/>
                <a:ea typeface="Calibri"/>
                <a:cs typeface="Calibri"/>
                <a:sym typeface="Calibri"/>
              </a:rPr>
              <a:t>Generate requirements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3749040" y="228600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REQUIREMENTS.md: typed inputs, outputs, 9 constraints, 5 edge cases.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4"/>
          <p:cNvCxnSpPr/>
          <p:nvPr/>
        </p:nvCxnSpPr>
        <p:spPr>
          <a:xfrm>
            <a:off x="548640" y="2880360"/>
            <a:ext cx="8321040" cy="0"/>
          </a:xfrm>
          <a:prstGeom prst="straightConnector1">
            <a:avLst/>
          </a:prstGeom>
          <a:noFill/>
          <a:ln w="9525" cap="flat" cmpd="sng">
            <a:solidFill>
              <a:srgbClr val="2E2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" name="Google Shape;90;p4"/>
          <p:cNvSpPr/>
          <p:nvPr/>
        </p:nvSpPr>
        <p:spPr>
          <a:xfrm>
            <a:off x="548640" y="29718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1200"/>
              <a:buFont typeface="Cambria"/>
              <a:buNone/>
            </a:pPr>
            <a:r>
              <a:rPr lang="en-US" sz="1200" b="1">
                <a:solidFill>
                  <a:srgbClr val="C4895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1051560" y="29718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EF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4EFE6"/>
                </a:solidFill>
                <a:latin typeface="Calibri"/>
                <a:ea typeface="Calibri"/>
                <a:cs typeface="Calibri"/>
                <a:sym typeface="Calibri"/>
              </a:rPr>
              <a:t>Generate design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749040" y="297180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DESIGN.md: file structure, function descriptions, data flow, 15 tasks in order.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4"/>
          <p:cNvCxnSpPr/>
          <p:nvPr/>
        </p:nvCxnSpPr>
        <p:spPr>
          <a:xfrm>
            <a:off x="548640" y="3566160"/>
            <a:ext cx="8321040" cy="0"/>
          </a:xfrm>
          <a:prstGeom prst="straightConnector1">
            <a:avLst/>
          </a:prstGeom>
          <a:noFill/>
          <a:ln w="9525" cap="flat" cmpd="sng">
            <a:solidFill>
              <a:srgbClr val="2E2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4"/>
          <p:cNvSpPr/>
          <p:nvPr/>
        </p:nvSpPr>
        <p:spPr>
          <a:xfrm>
            <a:off x="548640" y="36576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1200"/>
              <a:buFont typeface="Cambria"/>
              <a:buNone/>
            </a:pPr>
            <a:r>
              <a:rPr lang="en-US" sz="1200" b="1">
                <a:solidFill>
                  <a:srgbClr val="C4895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051560" y="36576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EF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4EFE6"/>
                </a:solidFill>
                <a:latin typeface="Calibri"/>
                <a:ea typeface="Calibri"/>
                <a:cs typeface="Calibri"/>
                <a:sym typeface="Calibri"/>
              </a:rPr>
              <a:t>Build step by step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3749040" y="365760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Each of the 6 functions built and tested individually.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4"/>
          <p:cNvCxnSpPr/>
          <p:nvPr/>
        </p:nvCxnSpPr>
        <p:spPr>
          <a:xfrm>
            <a:off x="548640" y="4251960"/>
            <a:ext cx="8321040" cy="0"/>
          </a:xfrm>
          <a:prstGeom prst="straightConnector1">
            <a:avLst/>
          </a:prstGeom>
          <a:noFill/>
          <a:ln w="9525" cap="flat" cmpd="sng">
            <a:solidFill>
              <a:srgbClr val="2E2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" name="Google Shape;98;p4"/>
          <p:cNvSpPr/>
          <p:nvPr/>
        </p:nvSpPr>
        <p:spPr>
          <a:xfrm>
            <a:off x="548640" y="43434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1200"/>
              <a:buFont typeface="Cambria"/>
              <a:buNone/>
            </a:pPr>
            <a:r>
              <a:rPr lang="en-US" sz="1200" b="1">
                <a:solidFill>
                  <a:srgbClr val="C4895A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051560" y="43434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EFE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4EFE6"/>
                </a:solidFill>
                <a:latin typeface="Calibri"/>
                <a:ea typeface="Calibri"/>
                <a:cs typeface="Calibri"/>
                <a:sym typeface="Calibri"/>
              </a:rPr>
              <a:t>Test end to end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749040" y="434340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Full pipeline verified live with a real brand example and API key.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/>
          <p:nvPr/>
        </p:nvSpPr>
        <p:spPr>
          <a:xfrm>
            <a:off x="457200" y="365760"/>
            <a:ext cx="411480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4400"/>
              <a:buFont typeface="Cambria"/>
              <a:buNone/>
            </a:pPr>
            <a:r>
              <a:rPr lang="en-US" sz="4400" b="1">
                <a:solidFill>
                  <a:srgbClr val="161412"/>
                </a:solidFill>
                <a:latin typeface="Cambria"/>
                <a:ea typeface="Cambria"/>
                <a:cs typeface="Cambria"/>
                <a:sym typeface="Cambria"/>
              </a:rPr>
              <a:t>GlowDrop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4400"/>
              <a:buFont typeface="Cambria"/>
              <a:buNone/>
            </a:pPr>
            <a:r>
              <a:rPr lang="en-US" sz="4400" b="1">
                <a:solidFill>
                  <a:srgbClr val="161412"/>
                </a:solidFill>
                <a:latin typeface="Cambria"/>
                <a:ea typeface="Cambria"/>
                <a:cs typeface="Cambria"/>
                <a:sym typeface="Cambria"/>
              </a:rPr>
              <a:t>comes to us.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57200" y="3063240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A B2C skincare brand with 42k TikTok followers, no paid campaigns, and organic reach that is declining.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5"/>
          <p:cNvCxnSpPr/>
          <p:nvPr/>
        </p:nvCxnSpPr>
        <p:spPr>
          <a:xfrm>
            <a:off x="4754880" y="365760"/>
            <a:ext cx="0" cy="4480560"/>
          </a:xfrm>
          <a:prstGeom prst="straightConnector1">
            <a:avLst/>
          </a:prstGeom>
          <a:noFill/>
          <a:ln w="10150" cap="flat" cmpd="sng">
            <a:solidFill>
              <a:srgbClr val="D4CCC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" name="Google Shape;110;p5"/>
          <p:cNvSpPr/>
          <p:nvPr/>
        </p:nvSpPr>
        <p:spPr>
          <a:xfrm>
            <a:off x="4983480" y="5029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983480" y="77724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61412"/>
                </a:solidFill>
                <a:latin typeface="Calibri"/>
                <a:ea typeface="Calibri"/>
                <a:cs typeface="Calibri"/>
                <a:sym typeface="Calibri"/>
              </a:rPr>
              <a:t>Morning Boost Serum: Vitamin C face serum, 45 GBP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983480" y="125272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USP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983480" y="152704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61412"/>
                </a:solidFill>
                <a:latin typeface="Calibri"/>
                <a:ea typeface="Calibri"/>
                <a:cs typeface="Calibri"/>
                <a:sym typeface="Calibri"/>
              </a:rPr>
              <a:t>Clean ingredients, dermatologist-tested, affordable luxury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983480" y="2002536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Audience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983480" y="2276856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61412"/>
                </a:solidFill>
                <a:latin typeface="Calibri"/>
                <a:ea typeface="Calibri"/>
                <a:cs typeface="Calibri"/>
                <a:sym typeface="Calibri"/>
              </a:rPr>
              <a:t>Women 22–38, skincare and wellness, UK and US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983480" y="275234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983480" y="3026664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61412"/>
                </a:solidFill>
                <a:latin typeface="Calibri"/>
                <a:ea typeface="Calibri"/>
                <a:cs typeface="Calibri"/>
                <a:sym typeface="Calibri"/>
              </a:rPr>
              <a:t>Increase first-time purchases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983480" y="350215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Budget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983480" y="377647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61412"/>
                </a:solidFill>
                <a:latin typeface="Calibri"/>
                <a:ea typeface="Calibri"/>
                <a:cs typeface="Calibri"/>
                <a:sym typeface="Calibri"/>
              </a:rPr>
              <a:t>5,000 GBP per month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983480" y="425196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Channels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983480" y="452628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61412"/>
                </a:solidFill>
                <a:latin typeface="Calibri"/>
                <a:ea typeface="Calibri"/>
                <a:cs typeface="Calibri"/>
                <a:sym typeface="Calibri"/>
              </a:rPr>
              <a:t>Organic TikTok only (42k followers, reach declining)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412"/>
          </a:solidFill>
          <a:ln w="12700" cap="flat" cmpd="sng">
            <a:solidFill>
              <a:srgbClr val="1614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48640" y="137160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lang="en-US" sz="34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Agent Gets to Work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8321040" y="1828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6"/>
          <p:cNvCxnSpPr/>
          <p:nvPr/>
        </p:nvCxnSpPr>
        <p:spPr>
          <a:xfrm>
            <a:off x="548640" y="1143000"/>
            <a:ext cx="3749040" cy="0"/>
          </a:xfrm>
          <a:prstGeom prst="straightConnector1">
            <a:avLst/>
          </a:prstGeom>
          <a:noFill/>
          <a:ln w="15225" cap="flat" cmpd="sng">
            <a:solidFill>
              <a:srgbClr val="C4895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" name="Google Shape;131;p6"/>
          <p:cNvSpPr/>
          <p:nvPr/>
        </p:nvSpPr>
        <p:spPr>
          <a:xfrm>
            <a:off x="548640" y="123444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Step 1  analyze_goal()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48640" y="157276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800"/>
              <a:buFont typeface="Cambria"/>
              <a:buNone/>
            </a:pPr>
            <a:r>
              <a:rPr lang="en-US" sz="1800" b="1">
                <a:solidFill>
                  <a:srgbClr val="161412"/>
                </a:solidFill>
                <a:latin typeface="Cambria"/>
                <a:ea typeface="Cambria"/>
                <a:cs typeface="Cambria"/>
                <a:sym typeface="Cambria"/>
              </a:rPr>
              <a:t>Funnel Stage: Conversion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48640" y="1993392"/>
            <a:ext cx="37490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000"/>
              <a:buFont typeface="Calibri"/>
              <a:buNone/>
            </a:pPr>
            <a:r>
              <a:rPr lang="en-US" sz="1000" i="1" dirty="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"Increase first-time purchases is a direct transaction goal. The 42k followers confirm the audience already knows </a:t>
            </a:r>
            <a:r>
              <a:rPr lang="en-US" sz="1000" i="1" dirty="0" err="1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GlowDrop</a:t>
            </a:r>
            <a:r>
              <a:rPr lang="en-US" sz="1000" i="1" dirty="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; the task is to convert, not to build awareness."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6"/>
          <p:cNvCxnSpPr/>
          <p:nvPr/>
        </p:nvCxnSpPr>
        <p:spPr>
          <a:xfrm>
            <a:off x="4846320" y="1143000"/>
            <a:ext cx="3931920" cy="0"/>
          </a:xfrm>
          <a:prstGeom prst="straightConnector1">
            <a:avLst/>
          </a:prstGeom>
          <a:noFill/>
          <a:ln w="15225" cap="flat" cmpd="sng">
            <a:solidFill>
              <a:srgbClr val="C4895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5" name="Google Shape;135;p6"/>
          <p:cNvSpPr/>
          <p:nvPr/>
        </p:nvSpPr>
        <p:spPr>
          <a:xfrm>
            <a:off x="4846320" y="12344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Step 2  select_channels()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846320" y="16002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1412"/>
                </a:solidFill>
                <a:latin typeface="Calibri"/>
                <a:ea typeface="Calibri"/>
                <a:cs typeface="Calibri"/>
                <a:sym typeface="Calibri"/>
              </a:rPr>
              <a:t>Meta Ads (Instagram)  [CPC]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846320" y="198424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1412"/>
                </a:solidFill>
                <a:latin typeface="Calibri"/>
                <a:ea typeface="Calibri"/>
                <a:cs typeface="Calibri"/>
                <a:sym typeface="Calibri"/>
              </a:rPr>
              <a:t>TikTok Ads  [CPM]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846320" y="2368296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1412"/>
                </a:solidFill>
                <a:latin typeface="Calibri"/>
                <a:ea typeface="Calibri"/>
                <a:cs typeface="Calibri"/>
                <a:sym typeface="Calibri"/>
              </a:rPr>
              <a:t>Google Search  [CPC]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6"/>
          <p:cNvCxnSpPr/>
          <p:nvPr/>
        </p:nvCxnSpPr>
        <p:spPr>
          <a:xfrm>
            <a:off x="548640" y="3200400"/>
            <a:ext cx="8321040" cy="0"/>
          </a:xfrm>
          <a:prstGeom prst="straightConnector1">
            <a:avLst/>
          </a:prstGeom>
          <a:noFill/>
          <a:ln w="9525" cap="flat" cmpd="sng">
            <a:solidFill>
              <a:srgbClr val="D4CCC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0" name="Google Shape;140;p6"/>
          <p:cNvSpPr/>
          <p:nvPr/>
        </p:nvSpPr>
        <p:spPr>
          <a:xfrm>
            <a:off x="548640" y="329184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Step 3  distribute_budget()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48640" y="365760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61412"/>
                </a:solidFill>
                <a:latin typeface="Calibri"/>
                <a:ea typeface="Calibri"/>
                <a:cs typeface="Calibri"/>
                <a:sym typeface="Calibri"/>
              </a:rPr>
              <a:t>Meta Ads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2834640" y="36576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61412"/>
                </a:solidFill>
                <a:latin typeface="Calibri"/>
                <a:ea typeface="Calibri"/>
                <a:cs typeface="Calibri"/>
                <a:sym typeface="Calibri"/>
              </a:rPr>
              <a:t>2,500 GBP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389120" y="365760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212080" y="36576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Primary channel: largest audience, strongest conversion algorithms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48640" y="404164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61412"/>
                </a:solidFill>
                <a:latin typeface="Calibri"/>
                <a:ea typeface="Calibri"/>
                <a:cs typeface="Calibri"/>
                <a:sym typeface="Calibri"/>
              </a:rPr>
              <a:t>TikTok Ads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2834640" y="4041648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61412"/>
                </a:solidFill>
                <a:latin typeface="Calibri"/>
                <a:ea typeface="Calibri"/>
                <a:cs typeface="Calibri"/>
                <a:sym typeface="Calibri"/>
              </a:rPr>
              <a:t>1,500 GBP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389120" y="404164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5212080" y="404164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Secondary: leverages existing 42k follower base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48640" y="4425696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61412"/>
                </a:solidFill>
                <a:latin typeface="Calibri"/>
                <a:ea typeface="Calibri"/>
                <a:cs typeface="Calibri"/>
                <a:sym typeface="Calibri"/>
              </a:rPr>
              <a:t>Google Search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2834640" y="4425696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61412"/>
                </a:solidFill>
                <a:latin typeface="Calibri"/>
                <a:ea typeface="Calibri"/>
                <a:cs typeface="Calibri"/>
                <a:sym typeface="Calibri"/>
              </a:rPr>
              <a:t>1,000 GBP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4389120" y="4425696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212080" y="4425696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Supporting: captures high-intent buyers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3600"/>
              <a:buFont typeface="Cambria"/>
              <a:buNone/>
            </a:pPr>
            <a:r>
              <a:rPr lang="en-US" sz="3600" b="1">
                <a:solidFill>
                  <a:srgbClr val="161412"/>
                </a:solidFill>
                <a:latin typeface="Cambria"/>
                <a:ea typeface="Cambria"/>
                <a:cs typeface="Cambria"/>
                <a:sym typeface="Cambria"/>
              </a:rPr>
              <a:t>KPIs and Keywords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8321040" y="3200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Step 4: All KPI targets derived from actual product price (45 GBP) : not generic benchmarks.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1" name="Google Shape;161;p7"/>
          <p:cNvGraphicFramePr/>
          <p:nvPr/>
        </p:nvGraphicFramePr>
        <p:xfrm>
          <a:off x="457200" y="1325880"/>
          <a:ext cx="8412450" cy="1536200"/>
        </p:xfrm>
        <a:graphic>
          <a:graphicData uri="http://schemas.openxmlformats.org/drawingml/2006/table">
            <a:tbl>
              <a:tblPr>
                <a:noFill/>
                <a:tableStyleId>{2178CBAD-5C5A-4D19-A59E-3B3466CC5238}</a:tableStyleId>
              </a:tblPr>
              <a:tblGrid>
                <a:gridCol w="219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Channel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4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CTR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4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CPA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4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ROAS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4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Derivation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4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 Ads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</a:rPr>
                        <a:t>1.2%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</a:rPr>
                        <a:t>11.25 GBP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</a:rPr>
                        <a:t>4.00x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</a:rPr>
                        <a:t>25% of 45 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TikTok Ads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</a:rPr>
                        <a:t>1.5%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</a:rPr>
                        <a:t>13.50 GBP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</a:rPr>
                        <a:t>3.33x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</a:rPr>
                        <a:t>30% of 45 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Search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</a:rPr>
                        <a:t>4.5%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</a:rPr>
                        <a:t>8.55 GBP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</a:rPr>
                        <a:t>5.26x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</a:rPr>
                        <a:t>19% of 45 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CC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62" name="Google Shape;162;p7"/>
          <p:cNvCxnSpPr/>
          <p:nvPr/>
        </p:nvCxnSpPr>
        <p:spPr>
          <a:xfrm>
            <a:off x="457200" y="2971800"/>
            <a:ext cx="8412480" cy="0"/>
          </a:xfrm>
          <a:prstGeom prst="straightConnector1">
            <a:avLst/>
          </a:prstGeom>
          <a:noFill/>
          <a:ln w="9525" cap="flat" cmpd="sng">
            <a:solidFill>
              <a:srgbClr val="D4CCC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3" name="Google Shape;163;p7"/>
          <p:cNvSpPr/>
          <p:nvPr/>
        </p:nvSpPr>
        <p:spPr>
          <a:xfrm>
            <a:off x="457200" y="3063240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100"/>
              <a:buFont typeface="Calibri"/>
              <a:buNone/>
            </a:pPr>
            <a:r>
              <a:rPr lang="en-US" sz="1100" i="1" dirty="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Step 5: </a:t>
            </a:r>
            <a:r>
              <a:rPr lang="en-US" sz="1100" i="1" dirty="0" err="1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generate_keywords</a:t>
            </a:r>
            <a:r>
              <a:rPr lang="en-US" sz="1100" i="1" dirty="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():  5 transactional keywords for Conversion stage, written in English for UK/US market.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57200" y="345643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61412"/>
                </a:solidFill>
                <a:latin typeface="Calibri"/>
                <a:ea typeface="Calibri"/>
                <a:cs typeface="Calibri"/>
                <a:sym typeface="Calibri"/>
              </a:rPr>
              <a:t>1   buy GlowDrop Morning Boost Serum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57200" y="38404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61412"/>
                </a:solidFill>
                <a:latin typeface="Calibri"/>
                <a:ea typeface="Calibri"/>
                <a:cs typeface="Calibri"/>
                <a:sym typeface="Calibri"/>
              </a:rPr>
              <a:t>2   morning face serum buy online UK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57200" y="422452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61412"/>
                </a:solidFill>
                <a:latin typeface="Calibri"/>
                <a:ea typeface="Calibri"/>
                <a:cs typeface="Calibri"/>
                <a:sym typeface="Calibri"/>
              </a:rPr>
              <a:t>3   clean ingredients face serum shop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937760" y="345643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61412"/>
                </a:solidFill>
                <a:latin typeface="Calibri"/>
                <a:ea typeface="Calibri"/>
                <a:cs typeface="Calibri"/>
                <a:sym typeface="Calibri"/>
              </a:rPr>
              <a:t>4   dermatologist tested serum for women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937760" y="38404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61412"/>
                </a:solidFill>
                <a:latin typeface="Calibri"/>
                <a:ea typeface="Calibri"/>
                <a:cs typeface="Calibri"/>
                <a:sym typeface="Calibri"/>
              </a:rPr>
              <a:t>5   affordable luxury morning serum try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412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EFE6"/>
              </a:buClr>
              <a:buSzPts val="4000"/>
              <a:buFont typeface="Cambria"/>
              <a:buNone/>
            </a:pPr>
            <a:r>
              <a:rPr lang="en-US" sz="4000" b="1">
                <a:solidFill>
                  <a:srgbClr val="F4EFE6"/>
                </a:solidFill>
                <a:latin typeface="Cambria"/>
                <a:ea typeface="Cambria"/>
                <a:cs typeface="Cambria"/>
                <a:sym typeface="Cambria"/>
              </a:rPr>
              <a:t>The Output.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548640" y="9601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Step 6: write_brief() :  ready to hand to a media buyer without editing.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8321040" y="3200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8"/>
          <p:cNvCxnSpPr/>
          <p:nvPr/>
        </p:nvCxnSpPr>
        <p:spPr>
          <a:xfrm>
            <a:off x="548640" y="1371600"/>
            <a:ext cx="8046720" cy="0"/>
          </a:xfrm>
          <a:prstGeom prst="straightConnector1">
            <a:avLst/>
          </a:prstGeom>
          <a:noFill/>
          <a:ln w="9525" cap="flat" cmpd="sng">
            <a:solidFill>
              <a:srgbClr val="2E2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8"/>
          <p:cNvSpPr/>
          <p:nvPr/>
        </p:nvSpPr>
        <p:spPr>
          <a:xfrm>
            <a:off x="548640" y="1508760"/>
            <a:ext cx="804672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4EFE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4EFE6"/>
                </a:solidFill>
                <a:latin typeface="Calibri"/>
                <a:ea typeface="Calibri"/>
                <a:cs typeface="Calibri"/>
                <a:sym typeface="Calibri"/>
              </a:rPr>
              <a:t>“This conversion-stage campaign targets UK and US women aged 22 to 38 with an interest in skincare and wellness, with the single objective of driving first-time purchases of GlowDrop’s Morning Boost Serum at 45 GBP. The 5,000 GBP monthly budget is split across Meta Ads (2,500 GBP, 50%), TikTok Ads (1,500 GBP, 30%), and Google Search (1,000 GBP, 20%), with Meta Ads leading as the primary conversion channel, TikTok Ads scaling GlowDrop’s existing 42k-follower organic presence through lookalike audiences, and Google Search capturing high-intent buyers already searching for morning serums. KPI targets are a CPA of 11.25 GBP and ROAS of 4.00x on Meta Ads, a CPA of 13.50 GBP and ROAS of 3.33x on TikTok Ads, and a CPA of 8.55 GBP and ROAS of 5.26x on Google Search. Creative should foreground GlowDrop’s clean-ingredient and dermatologist-tested credentials across all three channels.”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8"/>
          <p:cNvCxnSpPr/>
          <p:nvPr/>
        </p:nvCxnSpPr>
        <p:spPr>
          <a:xfrm>
            <a:off x="548640" y="4572000"/>
            <a:ext cx="8046720" cy="0"/>
          </a:xfrm>
          <a:prstGeom prst="straightConnector1">
            <a:avLst/>
          </a:prstGeom>
          <a:noFill/>
          <a:ln w="9525" cap="flat" cmpd="sng">
            <a:solidFill>
              <a:srgbClr val="2E2C2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0" name="Google Shape;180;p8"/>
          <p:cNvSpPr/>
          <p:nvPr/>
        </p:nvSpPr>
        <p:spPr>
          <a:xfrm>
            <a:off x="548640" y="466344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4 sentences   channels named   KPI targets stated   audience described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412"/>
          </a:solidFill>
          <a:ln w="12700" cap="flat" cmpd="sng">
            <a:solidFill>
              <a:srgbClr val="1614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548640" y="137160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lang="en-US" sz="34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Business Value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8321040" y="1828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9"/>
          <p:cNvCxnSpPr/>
          <p:nvPr/>
        </p:nvCxnSpPr>
        <p:spPr>
          <a:xfrm>
            <a:off x="548640" y="1234440"/>
            <a:ext cx="2560320" cy="0"/>
          </a:xfrm>
          <a:prstGeom prst="straightConnector1">
            <a:avLst/>
          </a:prstGeom>
          <a:noFill/>
          <a:ln w="19050" cap="flat" cmpd="sng">
            <a:solidFill>
              <a:srgbClr val="C4895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p9"/>
          <p:cNvSpPr/>
          <p:nvPr/>
        </p:nvSpPr>
        <p:spPr>
          <a:xfrm>
            <a:off x="548640" y="1371600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5200"/>
              <a:buFont typeface="Cambria"/>
              <a:buNone/>
            </a:pPr>
            <a:r>
              <a:rPr lang="en-US" sz="5200" b="1">
                <a:solidFill>
                  <a:srgbClr val="161412"/>
                </a:solidFill>
                <a:latin typeface="Cambria"/>
                <a:ea typeface="Cambria"/>
                <a:cs typeface="Cambria"/>
                <a:sym typeface="Cambria"/>
              </a:rPr>
              <a:t>2 min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548640" y="24231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1200"/>
              <a:buFont typeface="Calibri"/>
              <a:buNone/>
            </a:pPr>
            <a:r>
              <a:rPr lang="en-US" sz="1200" i="1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vs 2–3 hours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548640" y="2834640"/>
            <a:ext cx="2560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A complete media plan instead of an afternoon of manual research.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9"/>
          <p:cNvCxnSpPr/>
          <p:nvPr/>
        </p:nvCxnSpPr>
        <p:spPr>
          <a:xfrm>
            <a:off x="3383280" y="1234440"/>
            <a:ext cx="2560320" cy="0"/>
          </a:xfrm>
          <a:prstGeom prst="straightConnector1">
            <a:avLst/>
          </a:prstGeom>
          <a:noFill/>
          <a:ln w="19050" cap="flat" cmpd="sng">
            <a:solidFill>
              <a:srgbClr val="C4895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4" name="Google Shape;194;p9"/>
          <p:cNvSpPr/>
          <p:nvPr/>
        </p:nvSpPr>
        <p:spPr>
          <a:xfrm>
            <a:off x="3383280" y="1371600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5200"/>
              <a:buFont typeface="Cambria"/>
              <a:buNone/>
            </a:pPr>
            <a:r>
              <a:rPr lang="en-US" sz="5200" b="1">
                <a:solidFill>
                  <a:srgbClr val="161412"/>
                </a:solidFill>
                <a:latin typeface="Cambria"/>
                <a:ea typeface="Cambria"/>
                <a:cs typeface="Cambria"/>
                <a:sym typeface="Cambria"/>
              </a:rPr>
              <a:t>100%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3383280" y="24231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1200"/>
              <a:buFont typeface="Calibri"/>
              <a:buNone/>
            </a:pPr>
            <a:r>
              <a:rPr lang="en-US" sz="1200" i="1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budget accuracy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3383280" y="2834640"/>
            <a:ext cx="2560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Percentages mathematically forced to sum to exactly 100%.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9"/>
          <p:cNvCxnSpPr/>
          <p:nvPr/>
        </p:nvCxnSpPr>
        <p:spPr>
          <a:xfrm>
            <a:off x="6217920" y="1234440"/>
            <a:ext cx="2560320" cy="0"/>
          </a:xfrm>
          <a:prstGeom prst="straightConnector1">
            <a:avLst/>
          </a:prstGeom>
          <a:noFill/>
          <a:ln w="19050" cap="flat" cmpd="sng">
            <a:solidFill>
              <a:srgbClr val="C4895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8" name="Google Shape;198;p9"/>
          <p:cNvSpPr/>
          <p:nvPr/>
        </p:nvSpPr>
        <p:spPr>
          <a:xfrm>
            <a:off x="6217920" y="1371600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5200"/>
              <a:buFont typeface="Cambria"/>
              <a:buNone/>
            </a:pPr>
            <a:r>
              <a:rPr lang="en-US" sz="5200" b="1">
                <a:solidFill>
                  <a:srgbClr val="161412"/>
                </a:solidFill>
                <a:latin typeface="Cambria"/>
                <a:ea typeface="Cambria"/>
                <a:cs typeface="Cambria"/>
                <a:sym typeface="Cambria"/>
              </a:rPr>
              <a:t>0 edits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6217920" y="24231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1200"/>
              <a:buFont typeface="Calibri"/>
              <a:buNone/>
            </a:pPr>
            <a:r>
              <a:rPr lang="en-US" sz="1200" i="1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needed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6217920" y="2834640"/>
            <a:ext cx="2560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The brief goes straight to the media buyer without changes.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9"/>
          <p:cNvCxnSpPr/>
          <p:nvPr/>
        </p:nvCxnSpPr>
        <p:spPr>
          <a:xfrm>
            <a:off x="548640" y="4160520"/>
            <a:ext cx="8046720" cy="0"/>
          </a:xfrm>
          <a:prstGeom prst="straightConnector1">
            <a:avLst/>
          </a:prstGeom>
          <a:noFill/>
          <a:ln w="9525" cap="flat" cmpd="sng">
            <a:solidFill>
              <a:srgbClr val="D4CCC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2" name="Google Shape;202;p9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The agent does not just generate text. It makes decisions and justifies each one based on the actual inputs not just generic advice.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3800"/>
              <a:buFont typeface="Cambria"/>
              <a:buNone/>
            </a:pPr>
            <a:r>
              <a:rPr lang="en-US" sz="3800" b="1">
                <a:solidFill>
                  <a:srgbClr val="161412"/>
                </a:solidFill>
                <a:latin typeface="Cambria"/>
                <a:ea typeface="Cambria"/>
                <a:cs typeface="Cambria"/>
                <a:sym typeface="Cambria"/>
              </a:rPr>
              <a:t>Reflection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8321040" y="3200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p10"/>
          <p:cNvCxnSpPr/>
          <p:nvPr/>
        </p:nvCxnSpPr>
        <p:spPr>
          <a:xfrm>
            <a:off x="457200" y="1051560"/>
            <a:ext cx="3840480" cy="0"/>
          </a:xfrm>
          <a:prstGeom prst="straightConnector1">
            <a:avLst/>
          </a:prstGeom>
          <a:noFill/>
          <a:ln w="15225" cap="flat" cmpd="sng">
            <a:solidFill>
              <a:srgbClr val="C4895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10"/>
          <p:cNvSpPr/>
          <p:nvPr/>
        </p:nvSpPr>
        <p:spPr>
          <a:xfrm>
            <a:off x="457200" y="11430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What worked well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457200" y="160020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822960" y="160020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Writing the spec before any code forced us to think through every edge case upfront. Nothing was left ambiguous.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457200" y="256032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822960" y="256032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The agent correctly identified </a:t>
            </a:r>
            <a:r>
              <a:rPr lang="en-US" sz="1100" dirty="0" err="1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GlowDrop</a:t>
            </a:r>
            <a:r>
              <a:rPr lang="en-US" sz="1100" dirty="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 as Conversion; not Awareness; because of the 42k follower base. 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457200" y="352044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895A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C4895A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822960" y="352044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Constraints enforced at two levels (prompt + Python) made the output reliable regardless of model behaviour.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10"/>
          <p:cNvCxnSpPr/>
          <p:nvPr/>
        </p:nvCxnSpPr>
        <p:spPr>
          <a:xfrm>
            <a:off x="4754880" y="1051560"/>
            <a:ext cx="4023360" cy="0"/>
          </a:xfrm>
          <a:prstGeom prst="straightConnector1">
            <a:avLst/>
          </a:prstGeom>
          <a:noFill/>
          <a:ln w="15225" cap="flat" cmpd="sng">
            <a:solidFill>
              <a:srgbClr val="16141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9" name="Google Shape;219;p10"/>
          <p:cNvSpPr/>
          <p:nvPr/>
        </p:nvSpPr>
        <p:spPr>
          <a:xfrm>
            <a:off x="4754880" y="114300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61412"/>
                </a:solidFill>
                <a:latin typeface="Calibri"/>
                <a:ea typeface="Calibri"/>
                <a:cs typeface="Calibri"/>
                <a:sym typeface="Calibri"/>
              </a:rPr>
              <a:t>What we would improve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4754880" y="160020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61412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5120640" y="160020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Connect to live Google Ads and Meta API data for real CPC and CPM rates instead of benchmark ranges.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4754880" y="256032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61412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5120640" y="256032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Add a feedback loop so the agent learns from past campaign results and improves over time.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4754880" y="352044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412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61412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5120640" y="352044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8070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rgbClr val="8C8070"/>
                </a:solidFill>
                <a:latin typeface="Calibri"/>
                <a:ea typeface="Calibri"/>
                <a:cs typeface="Calibri"/>
                <a:sym typeface="Calibri"/>
              </a:rPr>
              <a:t>Add a confidence score so users know when to question a recommendation.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1125</Words>
  <Application>Microsoft Macintosh PowerPoint</Application>
  <PresentationFormat>On-screen Show (16:9)</PresentationFormat>
  <Paragraphs>174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Tina Jannasch</cp:lastModifiedBy>
  <cp:revision>1</cp:revision>
  <dcterms:created xsi:type="dcterms:W3CDTF">2026-06-09T21:29:15Z</dcterms:created>
  <dcterms:modified xsi:type="dcterms:W3CDTF">2026-06-11T18:07:54Z</dcterms:modified>
</cp:coreProperties>
</file>